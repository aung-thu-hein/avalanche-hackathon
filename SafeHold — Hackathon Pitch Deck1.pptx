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0700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energy. One sentence: "Retail holders get blindsided by token unlocks they never saw coming — SafeHold turns that into one number anyone understands." Then move straight to the problem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seconds here. Don't read the cards word for word — just land the headline and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90 seconds total for the four demo slides — move fast, this one is just the entry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seconds: name the specific Avalanche features you used, not just "we built on Avalanche."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direct answer to "what's the business model" — decoupling API cost from user count is the core of the pitch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seconds: keep this forward-looking but grounded — one sentence per horizon.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2211C"/>
              </a:gs>
              <a:gs pos="100000">
                <a:srgbClr val="0A140F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9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AVALANCHE × TEAM1 HACKATHON — BANGKOK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178520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SafeHold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812800" y="2346920"/>
            <a:ext cx="1088339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Know before you hold.</a:t>
            </a:r>
            <a:endParaRPr lang="en-US" sz="2000" dirty="0"/>
          </a:p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Real-time unlock risk, in plain English.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12800" y="5679480"/>
            <a:ext cx="1211990" cy="365720"/>
          </a:xfrm>
          <a:prstGeom prst="roundRect">
            <a:avLst>
              <a:gd name="adj" fmla="val 50000"/>
            </a:avLst>
          </a:prstGeom>
          <a:solidFill>
            <a:srgbClr val="2F9E68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5755680"/>
            <a:ext cx="9579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A140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TRACK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26390" y="5679480"/>
            <a:ext cx="2010370" cy="3657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2278790" y="5755680"/>
            <a:ext cx="17567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A140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CONSUMER APP TRACK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B6B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919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221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Retail holders get blindsided by unlocks they never saw coming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380523"/>
            <a:ext cx="3380317" cy="3458303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6350">
            <a:solidFill>
              <a:srgbClr val="E3E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33" y="2635581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21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Scattered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1033" y="3041981"/>
            <a:ext cx="295630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Vesting schedules live in blog posts, PDFs and Discord announcements, not one trusted place.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05842" y="2380523"/>
            <a:ext cx="3380317" cy="3458303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6350">
            <a:solidFill>
              <a:srgbClr val="E3E0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0900" y="2635581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21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Jargon-heavy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60900" y="3041981"/>
            <a:ext cx="295630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Circulating supply, FDV, cliff dates — none of it tells a normal holder what to actually 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95709" y="2380523"/>
            <a:ext cx="3380317" cy="3458303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6350">
            <a:solidFill>
              <a:srgbClr val="E3E0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0767" y="2635581"/>
            <a:ext cx="29563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21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 late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50767" y="3041981"/>
            <a:ext cx="295630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 the time an unlock is news, price and liquidity have often already moved.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6811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SafeHold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88700" y="6238280"/>
            <a:ext cx="241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64094"/>
            <a:ext cx="7063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9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529815"/>
            <a:ext cx="7063740" cy="919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One score. One sentence. One action.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576241"/>
            <a:ext cx="706374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SafeHold turns unlock schedules and on-chain activity into a single hold-safety score anyone can read in three seconds — then lets you set a reminder or an alert with one tap.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080375" y="1044575"/>
            <a:ext cx="3295650" cy="4565650"/>
          </a:xfrm>
          <a:prstGeom prst="roundRect">
            <a:avLst>
              <a:gd name="adj" fmla="val 9152"/>
            </a:avLst>
          </a:prstGeom>
          <a:solidFill>
            <a:srgbClr val="0A140F"/>
          </a:solidFill>
          <a:ln w="6350">
            <a:solidFill>
              <a:srgbClr val="2435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44844" y="1498667"/>
            <a:ext cx="4175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97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AVAX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839200" y="1864387"/>
            <a:ext cx="1778000" cy="1778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F9E68"/>
              </a:gs>
              <a:gs pos="70000">
                <a:srgbClr val="12211C"/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8" name="Text 6"/>
          <p:cNvSpPr/>
          <p:nvPr/>
        </p:nvSpPr>
        <p:spPr>
          <a:xfrm>
            <a:off x="9323718" y="2326680"/>
            <a:ext cx="859764" cy="878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82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924727" y="3794787"/>
            <a:ext cx="16577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5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 to hold this week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93651" y="4160507"/>
            <a:ext cx="286909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897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unlock scheduled in the next 14 days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61573" y="4739548"/>
            <a:ext cx="2533187" cy="416520"/>
          </a:xfrm>
          <a:prstGeom prst="roundRect">
            <a:avLst>
              <a:gd name="adj" fmla="val 50000"/>
            </a:avLst>
          </a:prstGeom>
          <a:solidFill>
            <a:srgbClr val="2F9E68"/>
          </a:solidFill>
          <a:ln/>
        </p:spPr>
      </p:sp>
      <p:sp>
        <p:nvSpPr>
          <p:cNvPr id="12" name="Text 10"/>
          <p:cNvSpPr/>
          <p:nvPr/>
        </p:nvSpPr>
        <p:spPr>
          <a:xfrm>
            <a:off x="8664773" y="4841148"/>
            <a:ext cx="21905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A140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Notify me before next unlock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6811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97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SafeHold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84864" y="6238280"/>
            <a:ext cx="2451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97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B6B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221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From raw data to a one-tap decision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33510"/>
            <a:ext cx="3109383" cy="3905316"/>
          </a:xfrm>
          <a:prstGeom prst="roundRect">
            <a:avLst>
              <a:gd name="adj" fmla="val 4799"/>
            </a:avLst>
          </a:prstGeom>
          <a:solidFill>
            <a:srgbClr val="FFFFFF"/>
          </a:solidFill>
          <a:ln w="6350">
            <a:solidFill>
              <a:srgbClr val="E3E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33" y="2188567"/>
            <a:ext cx="26772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F9E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1033" y="2645767"/>
            <a:ext cx="2677245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1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Pull the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1033" y="2991182"/>
            <a:ext cx="2677245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Unlock schedules, supply dynamics and on-chain activity, sourced from Tokenomist.</a:t>
            </a:r>
            <a:endParaRPr lang="en-US" sz="120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80933" y="3809935"/>
            <a:ext cx="304800" cy="152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41308" y="1933510"/>
            <a:ext cx="3109383" cy="3905316"/>
          </a:xfrm>
          <a:prstGeom prst="roundRect">
            <a:avLst>
              <a:gd name="adj" fmla="val 4799"/>
            </a:avLst>
          </a:prstGeom>
          <a:solidFill>
            <a:srgbClr val="FFFFFF"/>
          </a:solidFill>
          <a:ln w="6350">
            <a:solidFill>
              <a:srgbClr val="E3E0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96367" y="2188567"/>
            <a:ext cx="26772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F9E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796367" y="2645767"/>
            <a:ext cx="2677245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1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Score it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96367" y="2991182"/>
            <a:ext cx="2677245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AI layer turns the raw numbers into a 0–100 safety score and one plain-language sentence.</a:t>
            </a:r>
            <a:endParaRPr lang="en-US" sz="1200" dirty="0"/>
          </a:p>
        </p:txBody>
      </p:sp>
      <p:pic>
        <p:nvPicPr>
          <p:cNvPr id="13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06267" y="3809935"/>
            <a:ext cx="304800" cy="1524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266642" y="1933510"/>
            <a:ext cx="3109383" cy="3905316"/>
          </a:xfrm>
          <a:prstGeom prst="roundRect">
            <a:avLst>
              <a:gd name="adj" fmla="val 4799"/>
            </a:avLst>
          </a:prstGeom>
          <a:solidFill>
            <a:srgbClr val="FFFFFF"/>
          </a:solidFill>
          <a:ln w="6350">
            <a:solidFill>
              <a:srgbClr val="E3E0D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521700" y="2188567"/>
            <a:ext cx="26772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F9E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8521700" y="2645767"/>
            <a:ext cx="2677245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1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 on it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521700" y="2991182"/>
            <a:ext cx="2677245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tap sets a Telegram alert — or, with a spending cap, an on-chain move to a stable asset.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12800" y="6238280"/>
            <a:ext cx="6811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SafeHold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1182417" y="6238280"/>
            <a:ext cx="2475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540000"/>
            <a:ext cx="74561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9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DEMO · 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905720"/>
            <a:ext cx="7456170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Search any token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505135"/>
            <a:ext cx="745617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portfolio connection required to start — search a ticker and SafeHold pulls up its cached unlock and supply profile instantly.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461375" y="1044575"/>
            <a:ext cx="2914650" cy="4565650"/>
          </a:xfrm>
          <a:prstGeom prst="roundRect">
            <a:avLst>
              <a:gd name="adj" fmla="val 10349"/>
            </a:avLst>
          </a:prstGeom>
          <a:solidFill>
            <a:srgbClr val="0A140F"/>
          </a:solidFill>
          <a:ln w="6350">
            <a:solidFill>
              <a:srgbClr val="2435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16434" y="1299635"/>
            <a:ext cx="24766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897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716434" y="1639956"/>
            <a:ext cx="2404533" cy="467320"/>
          </a:xfrm>
          <a:prstGeom prst="roundRect">
            <a:avLst>
              <a:gd name="adj" fmla="val 21741"/>
            </a:avLst>
          </a:prstGeom>
          <a:solidFill>
            <a:srgbClr val="12211C"/>
          </a:solidFill>
          <a:ln/>
        </p:spPr>
      </p:sp>
      <p:sp>
        <p:nvSpPr>
          <p:cNvPr id="8" name="Text 6"/>
          <p:cNvSpPr/>
          <p:nvPr/>
        </p:nvSpPr>
        <p:spPr>
          <a:xfrm>
            <a:off x="8843434" y="1766956"/>
            <a:ext cx="22150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7F5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a token…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716434" y="2234276"/>
            <a:ext cx="247666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7F5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AVAX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16434" y="2584782"/>
            <a:ext cx="247666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716434" y="2935288"/>
            <a:ext cx="247666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BENQI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716434" y="3285796"/>
            <a:ext cx="2476669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6811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97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SafeHold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81953" y="6238280"/>
            <a:ext cx="2480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97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92400"/>
            <a:ext cx="74561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9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DEMO · 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3058120"/>
            <a:ext cx="7456170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 score you read in three seconds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657535"/>
            <a:ext cx="745617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unlock in sight — AVAX comes back at 82: safe to hold, plain and simple.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461375" y="1044575"/>
            <a:ext cx="2914650" cy="4565650"/>
          </a:xfrm>
          <a:prstGeom prst="roundRect">
            <a:avLst>
              <a:gd name="adj" fmla="val 10349"/>
            </a:avLst>
          </a:prstGeom>
          <a:solidFill>
            <a:srgbClr val="0A140F"/>
          </a:solidFill>
          <a:ln w="6350">
            <a:solidFill>
              <a:srgbClr val="2435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35344" y="1828868"/>
            <a:ext cx="4175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97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AVAX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093200" y="2194589"/>
            <a:ext cx="1651000" cy="1651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F9E68"/>
              </a:gs>
              <a:gs pos="70000">
                <a:srgbClr val="12211C"/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8" name="Text 6"/>
          <p:cNvSpPr/>
          <p:nvPr/>
        </p:nvSpPr>
        <p:spPr>
          <a:xfrm>
            <a:off x="9547887" y="2628900"/>
            <a:ext cx="792361" cy="807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82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981281" y="3997989"/>
            <a:ext cx="193101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5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 to hold this week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0366" y="4399294"/>
            <a:ext cx="247666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897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unlock scheduled in the next 14 days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6811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97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SafeHold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79242" y="6238280"/>
            <a:ext cx="250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97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540000"/>
            <a:ext cx="74561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DEMO · STEP 2B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905720"/>
            <a:ext cx="7456170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…or an early warning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505135"/>
            <a:ext cx="745617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different token, close to a large supply unlock, scores 41 — and says exactly why.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461375" y="1044575"/>
            <a:ext cx="2914650" cy="4565650"/>
          </a:xfrm>
          <a:prstGeom prst="roundRect">
            <a:avLst>
              <a:gd name="adj" fmla="val 10349"/>
            </a:avLst>
          </a:prstGeom>
          <a:solidFill>
            <a:srgbClr val="0A140F"/>
          </a:solidFill>
          <a:ln w="6350">
            <a:solidFill>
              <a:srgbClr val="2435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79451" y="1828868"/>
            <a:ext cx="5292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97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TOKEN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093200" y="2194589"/>
            <a:ext cx="1651000" cy="1651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97706"/>
              </a:gs>
              <a:gs pos="70000">
                <a:srgbClr val="12211C"/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8" name="Text 6"/>
          <p:cNvSpPr/>
          <p:nvPr/>
        </p:nvSpPr>
        <p:spPr>
          <a:xfrm>
            <a:off x="9596173" y="2628900"/>
            <a:ext cx="695788" cy="807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9197909" y="3997989"/>
            <a:ext cx="1441516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5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Unlock in 4 days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0366" y="4399294"/>
            <a:ext cx="247666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897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12% of circulating supply unlocking soon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6811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97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SafeHold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95645" y="6238280"/>
            <a:ext cx="2343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97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540000"/>
            <a:ext cx="74561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9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DEMO · STEP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905720"/>
            <a:ext cx="7456170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Set it and forget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3505135"/>
            <a:ext cx="745617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tap sets a personal Telegram alert for that token's next unlock — no need to check back manually.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461375" y="1044575"/>
            <a:ext cx="2914650" cy="4565650"/>
          </a:xfrm>
          <a:prstGeom prst="roundRect">
            <a:avLst>
              <a:gd name="adj" fmla="val 10349"/>
            </a:avLst>
          </a:prstGeom>
          <a:solidFill>
            <a:srgbClr val="0A140F"/>
          </a:solidFill>
          <a:ln w="6350">
            <a:solidFill>
              <a:srgbClr val="24352C"/>
            </a:solidFill>
            <a:prstDash val="solid"/>
          </a:ln>
        </p:spPr>
      </p:sp>
      <p:pic>
        <p:nvPicPr>
          <p:cNvPr id="6" name="Image 0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90100" y="2306374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47625" y="2915974"/>
            <a:ext cx="214215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7F5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Alert set on Telegram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0366" y="3352800"/>
            <a:ext cx="247666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7A897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We'll message you before this token's next unlock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524670" y="3931841"/>
            <a:ext cx="788061" cy="416520"/>
          </a:xfrm>
          <a:prstGeom prst="roundRect">
            <a:avLst>
              <a:gd name="adj" fmla="val 50000"/>
            </a:avLst>
          </a:prstGeom>
          <a:solidFill>
            <a:srgbClr val="2F9E68"/>
          </a:solidFill>
          <a:ln/>
        </p:spPr>
      </p:sp>
      <p:sp>
        <p:nvSpPr>
          <p:cNvPr id="10" name="Text 7"/>
          <p:cNvSpPr/>
          <p:nvPr/>
        </p:nvSpPr>
        <p:spPr>
          <a:xfrm>
            <a:off x="9727870" y="4033441"/>
            <a:ext cx="4324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A140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2800" y="6238280"/>
            <a:ext cx="6811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97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SafeHold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182284" y="6238280"/>
            <a:ext cx="2477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97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B6B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AVALANCHE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221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Fast enough to act the moment risk changes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33513"/>
            <a:ext cx="3380317" cy="3905316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6350">
            <a:solidFill>
              <a:srgbClr val="E3E0D2"/>
            </a:solidFill>
            <a:prstDash val="solid"/>
          </a:ln>
        </p:spPr>
      </p:sp>
      <p:pic>
        <p:nvPicPr>
          <p:cNvPr id="5" name="Image 0" descr="Light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1033" y="2188567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1033" y="2620367"/>
            <a:ext cx="295630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1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Sub-second finality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71033" y="2991185"/>
            <a:ext cx="295630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alert-to-action flow only works if the chain confirms fast enough to matter.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05842" y="1933513"/>
            <a:ext cx="3380317" cy="3905316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6350">
            <a:solidFill>
              <a:srgbClr val="E3E0D2"/>
            </a:solidFill>
            <a:prstDash val="solid"/>
          </a:ln>
        </p:spPr>
      </p:sp>
      <p:pic>
        <p:nvPicPr>
          <p:cNvPr id="9" name="Image 1" descr="Wrench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0900" y="2188567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0900" y="2620367"/>
            <a:ext cx="295630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1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Low, predictable fees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660900" y="2991185"/>
            <a:ext cx="295630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Small, frequent safety actions need fees that don't eat the position they're protecting.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95709" y="1933513"/>
            <a:ext cx="3380317" cy="3905316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6350">
            <a:solidFill>
              <a:srgbClr val="E3E0D2"/>
            </a:solidFill>
            <a:prstDash val="solid"/>
          </a:ln>
        </p:spPr>
      </p:sp>
      <p:pic>
        <p:nvPicPr>
          <p:cNvPr id="13" name="Image 2" descr="Glob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50767" y="2188567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0767" y="2620367"/>
            <a:ext cx="2956306" cy="51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1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C-Chain today, an L1 tomorrow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250767" y="3234996"/>
            <a:ext cx="295630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ship on C-Chain now; a dedicated subnet is the obvious next step as usage grows.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2800" y="6238280"/>
            <a:ext cx="6811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SafeHold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179242" y="6238280"/>
            <a:ext cx="2507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2875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9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BUILT WITH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446871"/>
            <a:ext cx="10883392" cy="807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Tokenomist.ai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15975" y="3537148"/>
            <a:ext cx="3380317" cy="1185730"/>
          </a:xfrm>
          <a:prstGeom prst="roundRect">
            <a:avLst>
              <a:gd name="adj" fmla="val 12585"/>
            </a:avLst>
          </a:prstGeom>
          <a:solidFill>
            <a:srgbClr val="0A140F"/>
          </a:solidFill>
          <a:ln w="6350">
            <a:solidFill>
              <a:srgbClr val="2435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233" y="3741409"/>
            <a:ext cx="306095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5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Unlock schedules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0233" y="4061420"/>
            <a:ext cx="306095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vesting cliffs and linear unlocks behind the score.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05842" y="3537148"/>
            <a:ext cx="3380317" cy="1185730"/>
          </a:xfrm>
          <a:prstGeom prst="roundRect">
            <a:avLst>
              <a:gd name="adj" fmla="val 12585"/>
            </a:avLst>
          </a:prstGeom>
          <a:solidFill>
            <a:srgbClr val="0A140F"/>
          </a:solidFill>
          <a:ln w="6350">
            <a:solidFill>
              <a:srgbClr val="2435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0100" y="3741409"/>
            <a:ext cx="306095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5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Supply dynamics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0100" y="4061420"/>
            <a:ext cx="306095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Circulating vs. fully diluted supply, tracked over time.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95709" y="3537148"/>
            <a:ext cx="3380317" cy="1185730"/>
          </a:xfrm>
          <a:prstGeom prst="roundRect">
            <a:avLst>
              <a:gd name="adj" fmla="val 12585"/>
            </a:avLst>
          </a:prstGeom>
          <a:solidFill>
            <a:srgbClr val="0A140F"/>
          </a:solidFill>
          <a:ln w="6350">
            <a:solidFill>
              <a:srgbClr val="2435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9967" y="3741409"/>
            <a:ext cx="3060954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5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On-chain activity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99967" y="4061420"/>
            <a:ext cx="3060954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Wallet and volume signals that sharpen the safety score.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6811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97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SafeHold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27395" y="6238280"/>
            <a:ext cx="20260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97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B6B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221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Free to start, one simple tier to sustain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13"/>
            <a:ext cx="5175250" cy="3437996"/>
          </a:xfrm>
          <a:prstGeom prst="roundRect">
            <a:avLst>
              <a:gd name="adj" fmla="val 4340"/>
            </a:avLst>
          </a:prstGeom>
          <a:solidFill>
            <a:srgbClr val="FFFFFF"/>
          </a:solidFill>
          <a:ln w="6350">
            <a:solidFill>
              <a:srgbClr val="E3E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33" y="2137767"/>
            <a:ext cx="48050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1033" y="2478088"/>
            <a:ext cx="480508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221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$0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71033" y="3174008"/>
            <a:ext cx="4805087" cy="756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55194" algn="l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3F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20–30 curated tokens</a:t>
            </a:r>
            <a:endParaRPr lang="en-US" sz="1200" dirty="0"/>
          </a:p>
          <a:p>
            <a:pPr marL="182880" indent="-155194" algn="l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3F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Safety score refreshed daily</a:t>
            </a:r>
            <a:endParaRPr lang="en-US" sz="1200" dirty="0"/>
          </a:p>
          <a:p>
            <a:pPr marL="182880" indent="-155194" algn="l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3F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Shared Telegram alert channel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00775" y="1882713"/>
            <a:ext cx="5175250" cy="3437996"/>
          </a:xfrm>
          <a:prstGeom prst="roundRect">
            <a:avLst>
              <a:gd name="adj" fmla="val 4340"/>
            </a:avLst>
          </a:prstGeom>
          <a:solidFill>
            <a:srgbClr val="12211C"/>
          </a:solidFill>
          <a:ln w="6350">
            <a:solidFill>
              <a:srgbClr val="2435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5833" y="2137767"/>
            <a:ext cx="48050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897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55833" y="2478088"/>
            <a:ext cx="480508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$4.99</a:t>
            </a:r>
            <a:r>
              <a:rPr lang="en-US" sz="3200" b="1" dirty="0">
                <a:solidFill>
                  <a:srgbClr val="7A897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/mo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55833" y="3174008"/>
            <a:ext cx="4805087" cy="756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55194" algn="l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watchlist or wallet import</a:t>
            </a:r>
            <a:endParaRPr lang="en-US" sz="1200" dirty="0"/>
          </a:p>
          <a:p>
            <a:pPr marL="182880" indent="-155194" algn="l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 push &amp; Telegram alerts</a:t>
            </a:r>
            <a:endParaRPr lang="en-US" sz="1200" dirty="0"/>
          </a:p>
          <a:p>
            <a:pPr marL="182880" indent="-155194" algn="l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Faster refresh, historical unlock impact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56286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Later: a B2B data feed for wallets and DAO treasuries, plus clearly-labeled featured protocol slots — the score itself is never for sale.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6811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SafeHold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284083" y="6238280"/>
            <a:ext cx="1459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9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Cost is fixed. Revenue isn't.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82713"/>
            <a:ext cx="3380317" cy="3117916"/>
          </a:xfrm>
          <a:prstGeom prst="roundRect">
            <a:avLst>
              <a:gd name="adj" fmla="val 4786"/>
            </a:avLst>
          </a:prstGeom>
          <a:solidFill>
            <a:srgbClr val="0A140F"/>
          </a:solidFill>
          <a:ln w="6350">
            <a:solidFill>
              <a:srgbClr val="2435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58446" y="2905720"/>
            <a:ext cx="1146109" cy="807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D9770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$69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315832" y="3764229"/>
            <a:ext cx="23805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Tokenomist data plan, per month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05842" y="1882713"/>
            <a:ext cx="3380317" cy="3117916"/>
          </a:xfrm>
          <a:prstGeom prst="roundRect">
            <a:avLst>
              <a:gd name="adj" fmla="val 4786"/>
            </a:avLst>
          </a:prstGeom>
          <a:solidFill>
            <a:srgbClr val="0A140F"/>
          </a:solidFill>
          <a:ln w="6350">
            <a:solidFill>
              <a:srgbClr val="2435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67032" y="2905720"/>
            <a:ext cx="1108670" cy="807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2F9E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~30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642784" y="3764229"/>
            <a:ext cx="29063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Tokens covered on a daily cache refresh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95709" y="1882713"/>
            <a:ext cx="3380317" cy="3117916"/>
          </a:xfrm>
          <a:prstGeom prst="roundRect">
            <a:avLst>
              <a:gd name="adj" fmla="val 4786"/>
            </a:avLst>
          </a:prstGeom>
          <a:solidFill>
            <a:srgbClr val="0A140F"/>
          </a:solidFill>
          <a:ln w="6350">
            <a:solidFill>
              <a:srgbClr val="2435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1667" y="2905720"/>
            <a:ext cx="999133" cy="807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~15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346701" y="3764229"/>
            <a:ext cx="26782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 subscribers to cover the data bill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530860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cache each token once and serve it to every user, so the data bill is set by how many tokens we track — not by how many people use the app. Every subscriber past breakeven is margin.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6811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97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SafeHold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43866" y="6238280"/>
            <a:ext cx="1861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97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B6B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IT'S FOR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221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Three groups, one recurring need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33513"/>
            <a:ext cx="3380317" cy="3905316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6350">
            <a:solidFill>
              <a:srgbClr val="E3E0D2"/>
            </a:solidFill>
            <a:prstDash val="solid"/>
          </a:ln>
        </p:spPr>
      </p:sp>
      <p:pic>
        <p:nvPicPr>
          <p:cNvPr id="5" name="Image 0" descr="User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1033" y="2188567"/>
            <a:ext cx="279400" cy="279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1033" y="2569567"/>
            <a:ext cx="295630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1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Everyday holders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71033" y="2914985"/>
            <a:ext cx="295630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People holding a handful of tokens who have no time to track vesting calendars.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05842" y="1933513"/>
            <a:ext cx="3380317" cy="3905316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6350">
            <a:solidFill>
              <a:srgbClr val="E3E0D2"/>
            </a:solidFill>
            <a:prstDash val="solid"/>
          </a:ln>
        </p:spPr>
      </p:sp>
      <p:pic>
        <p:nvPicPr>
          <p:cNvPr id="9" name="Image 1" descr="Char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0900" y="2188567"/>
            <a:ext cx="279400" cy="279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0900" y="2569567"/>
            <a:ext cx="295630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1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DeFi power users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660900" y="2914985"/>
            <a:ext cx="295630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with leveraged or collateralized positions where an unlock changes their risk.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95709" y="1933513"/>
            <a:ext cx="3380317" cy="3905316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 w="6350">
            <a:solidFill>
              <a:srgbClr val="E3E0D2"/>
            </a:solidFill>
            <a:prstDash val="solid"/>
          </a:ln>
        </p:spPr>
      </p:sp>
      <p:pic>
        <p:nvPicPr>
          <p:cNvPr id="13" name="Image 2" descr="Trust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50767" y="2188567"/>
            <a:ext cx="279400" cy="279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0767" y="2569567"/>
            <a:ext cx="295630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1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DAO &amp; community treasuries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250767" y="2914985"/>
            <a:ext cx="295630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Treasury managers who need an early warning before a partner token unlocks.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2800" y="6238280"/>
            <a:ext cx="6811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SafeHold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241551" y="6238280"/>
            <a:ext cx="1884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9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Today's demo is the smallest useful version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33513"/>
            <a:ext cx="3380317" cy="3905316"/>
          </a:xfrm>
          <a:prstGeom prst="roundRect">
            <a:avLst>
              <a:gd name="adj" fmla="val 4415"/>
            </a:avLst>
          </a:prstGeom>
          <a:solidFill>
            <a:srgbClr val="0A140F"/>
          </a:solidFill>
          <a:ln w="6350">
            <a:solidFill>
              <a:srgbClr val="2435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1033" y="2188567"/>
            <a:ext cx="406400" cy="741561"/>
          </a:xfrm>
          <a:prstGeom prst="roundRect">
            <a:avLst>
              <a:gd name="adj" fmla="val 50000"/>
            </a:avLst>
          </a:prstGeom>
          <a:solidFill>
            <a:srgbClr val="2F9E68"/>
          </a:solidFill>
          <a:ln/>
        </p:spPr>
      </p:sp>
      <p:sp>
        <p:nvSpPr>
          <p:cNvPr id="6" name="Text 4"/>
          <p:cNvSpPr/>
          <p:nvPr/>
        </p:nvSpPr>
        <p:spPr>
          <a:xfrm>
            <a:off x="1172633" y="2239367"/>
            <a:ext cx="2032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A140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1033" y="3031728"/>
            <a:ext cx="295630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token, one safety score, Telegram alerts.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5842" y="1933513"/>
            <a:ext cx="3380317" cy="3905316"/>
          </a:xfrm>
          <a:prstGeom prst="roundRect">
            <a:avLst>
              <a:gd name="adj" fmla="val 4415"/>
            </a:avLst>
          </a:prstGeom>
          <a:solidFill>
            <a:srgbClr val="0A140F"/>
          </a:solidFill>
          <a:ln w="6350">
            <a:solidFill>
              <a:srgbClr val="2435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0900" y="2188567"/>
            <a:ext cx="1143000" cy="528241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4762500" y="2239367"/>
            <a:ext cx="9398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A140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 90 days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0900" y="2818408"/>
            <a:ext cx="2956306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portfolio scoring, wallet import, historical unlock impact data.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95709" y="1933513"/>
            <a:ext cx="3380317" cy="3905316"/>
          </a:xfrm>
          <a:prstGeom prst="roundRect">
            <a:avLst>
              <a:gd name="adj" fmla="val 4415"/>
            </a:avLst>
          </a:prstGeom>
          <a:solidFill>
            <a:srgbClr val="0A140F"/>
          </a:solidFill>
          <a:ln w="6350">
            <a:solidFill>
              <a:srgbClr val="2435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50767" y="2188567"/>
            <a:ext cx="508000" cy="528241"/>
          </a:xfrm>
          <a:prstGeom prst="roundRect">
            <a:avLst>
              <a:gd name="adj" fmla="val 50000"/>
            </a:avLst>
          </a:prstGeom>
          <a:solidFill>
            <a:srgbClr val="24352C"/>
          </a:solidFill>
          <a:ln/>
        </p:spPr>
      </p:sp>
      <p:sp>
        <p:nvSpPr>
          <p:cNvPr id="14" name="Text 12"/>
          <p:cNvSpPr/>
          <p:nvPr/>
        </p:nvSpPr>
        <p:spPr>
          <a:xfrm>
            <a:off x="8352367" y="2239367"/>
            <a:ext cx="3048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5E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50767" y="2818408"/>
            <a:ext cx="295630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C9D6C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Automated on-chain hedging with a user-set spending cap, multi-chain coverage.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6811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97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SafeHold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39103" y="6238280"/>
            <a:ext cx="19089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897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1B6B4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2211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SafeHold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33513"/>
            <a:ext cx="3380317" cy="3265289"/>
          </a:xfrm>
          <a:prstGeom prst="roundRect">
            <a:avLst>
              <a:gd name="adj" fmla="val 4570"/>
            </a:avLst>
          </a:prstGeom>
          <a:solidFill>
            <a:srgbClr val="FFFFFF"/>
          </a:solidFill>
          <a:ln w="6350">
            <a:solidFill>
              <a:srgbClr val="E3E0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033" y="2188567"/>
            <a:ext cx="295630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1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Justin Htet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1033" y="2508585"/>
            <a:ext cx="29563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BD, presenter &amp; designer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05842" y="1933513"/>
            <a:ext cx="3380317" cy="3265289"/>
          </a:xfrm>
          <a:prstGeom prst="roundRect">
            <a:avLst>
              <a:gd name="adj" fmla="val 4570"/>
            </a:avLst>
          </a:prstGeom>
          <a:solidFill>
            <a:srgbClr val="FFFFFF"/>
          </a:solidFill>
          <a:ln w="6350">
            <a:solidFill>
              <a:srgbClr val="E3E0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0900" y="2188567"/>
            <a:ext cx="295630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1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[Dev name]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0900" y="2508585"/>
            <a:ext cx="29563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[Smart contracts / backend]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95709" y="1933513"/>
            <a:ext cx="3380317" cy="3265289"/>
          </a:xfrm>
          <a:prstGeom prst="roundRect">
            <a:avLst>
              <a:gd name="adj" fmla="val 4570"/>
            </a:avLst>
          </a:prstGeom>
          <a:solidFill>
            <a:srgbClr val="FFFFFF"/>
          </a:solidFill>
          <a:ln w="6350">
            <a:solidFill>
              <a:srgbClr val="E3E0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0767" y="2188567"/>
            <a:ext cx="295630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1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[Dev name]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50767" y="2508585"/>
            <a:ext cx="29563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F4A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[Frontend / data]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5557577"/>
            <a:ext cx="10883392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221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Thank you — questions?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6811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SafeHold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238640" y="6238280"/>
            <a:ext cx="1913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983</Words>
  <Application>Microsoft Office PowerPoint</Application>
  <PresentationFormat>Widescreen</PresentationFormat>
  <Paragraphs>174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DM Sans</vt:lpstr>
      <vt:lpstr>Rubik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SafeHold — Hackathon Pitch Deck</dc:title>
  <dc:subject>PptxGenJS Presentation</dc:subject>
  <dc:creator>PptxGenJS</dc:creator>
  <cp:lastModifiedBy>Flame frags</cp:lastModifiedBy>
  <cp:revision>1</cp:revision>
  <dcterms:created xsi:type="dcterms:W3CDTF">2026-09-23T11:06:36Z</dcterms:created>
  <dcterms:modified xsi:type="dcterms:W3CDTF">2026-09-25T11:35:52Z</dcterms:modified>
</cp:coreProperties>
</file>